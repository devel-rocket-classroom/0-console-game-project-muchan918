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7" r:id="rId6"/>
    <p:sldId id="272" r:id="rId7"/>
    <p:sldId id="261" r:id="rId8"/>
    <p:sldId id="266" r:id="rId9"/>
    <p:sldId id="273" r:id="rId10"/>
    <p:sldId id="260" r:id="rId11"/>
    <p:sldId id="268" r:id="rId12"/>
    <p:sldId id="269" r:id="rId13"/>
    <p:sldId id="270" r:id="rId14"/>
    <p:sldId id="274" r:id="rId15"/>
    <p:sldId id="262" r:id="rId16"/>
    <p:sldId id="275" r:id="rId17"/>
    <p:sldId id="264" r:id="rId18"/>
    <p:sldId id="26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>
        <p:scale>
          <a:sx n="137" d="100"/>
          <a:sy n="137" d="100"/>
        </p:scale>
        <p:origin x="9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293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89F39-C005-CA5B-D56D-A1C80C6A2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43F99-C679-7EF3-9E8D-36B1E30A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7567C-0C53-39A3-DBFA-15D0F94E4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C5D48-4180-6DA9-DBB8-BBF1F568A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73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82880" y="457200"/>
            <a:ext cx="164592" cy="164592"/>
          </a:xfrm>
          <a:prstGeom prst="rect">
            <a:avLst/>
          </a:prstGeom>
          <a:solidFill>
            <a:srgbClr val="F5C518">
              <a:alpha val="4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64592" cy="164592"/>
          </a:xfrm>
          <a:prstGeom prst="rect">
            <a:avLst/>
          </a:prstGeom>
          <a:solidFill>
            <a:srgbClr val="F5C518">
              <a:alpha val="4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164592" cy="164592"/>
          </a:xfrm>
          <a:prstGeom prst="rect">
            <a:avLst/>
          </a:prstGeom>
          <a:solidFill>
            <a:srgbClr val="F5C518">
              <a:alpha val="4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731520"/>
            <a:ext cx="164592" cy="164592"/>
          </a:xfrm>
          <a:prstGeom prst="rect">
            <a:avLst/>
          </a:prstGeom>
          <a:solidFill>
            <a:srgbClr val="F5C518">
              <a:alpha val="4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64592" cy="164592"/>
          </a:xfrm>
          <a:prstGeom prst="rect">
            <a:avLst/>
          </a:prstGeom>
          <a:solidFill>
            <a:srgbClr val="F5C518">
              <a:alpha val="4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595360" y="457200"/>
            <a:ext cx="164592" cy="164592"/>
          </a:xfrm>
          <a:prstGeom prst="rect">
            <a:avLst/>
          </a:prstGeom>
          <a:solidFill>
            <a:srgbClr val="F5C518">
              <a:alpha val="4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595360" y="914400"/>
            <a:ext cx="164592" cy="164592"/>
          </a:xfrm>
          <a:prstGeom prst="rect">
            <a:avLst/>
          </a:prstGeom>
          <a:solidFill>
            <a:srgbClr val="F5C518">
              <a:alpha val="4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595360" y="1371600"/>
            <a:ext cx="164592" cy="164592"/>
          </a:xfrm>
          <a:prstGeom prst="rect">
            <a:avLst/>
          </a:prstGeom>
          <a:solidFill>
            <a:srgbClr val="F5C518">
              <a:alpha val="4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321040" y="731520"/>
            <a:ext cx="164592" cy="164592"/>
          </a:xfrm>
          <a:prstGeom prst="rect">
            <a:avLst/>
          </a:prstGeom>
          <a:solidFill>
            <a:srgbClr val="F5C518">
              <a:alpha val="4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321040" y="1188720"/>
            <a:ext cx="164592" cy="164592"/>
          </a:xfrm>
          <a:prstGeom prst="rect">
            <a:avLst/>
          </a:prstGeom>
          <a:solidFill>
            <a:srgbClr val="F5C518">
              <a:alpha val="4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29291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Console-Based Survival RPG  |  C# 개발 프로젝트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0" y="3480040"/>
            <a:ext cx="365760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97280" y="3708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97280" y="3708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채광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3708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560320" y="3708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23360" y="3708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023360" y="3708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제작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3708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0" y="3708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탐험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49440" y="37086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949440" y="3708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76496" y="4411980"/>
            <a:ext cx="3383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ko-KR" altLang="en-US" dirty="0" err="1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기맞플밍</a:t>
            </a:r>
            <a:r>
              <a:rPr lang="ko-KR" altLang="en-US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altLang="ko-KR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ko-KR" altLang="en-US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</a:t>
            </a:r>
            <a:endParaRPr lang="en-US" altLang="ko-KR" dirty="0">
              <a:solidFill>
                <a:srgbClr val="88888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r">
              <a:buNone/>
            </a:pPr>
            <a:r>
              <a:rPr lang="ko-KR" altLang="en-US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김유찬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1957686-624F-C4F9-216D-C068280FD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495" y="215663"/>
            <a:ext cx="4941009" cy="26422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 소개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Keeper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모티브로 콘솔 형식으로 게임 제작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 엔진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위에서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채광</a:t>
            </a:r>
            <a:r>
              <a:rPr lang="en-US" altLang="ko-KR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탐험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전투, 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보스 등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4114800" cy="1188720"/>
          </a:xfrm>
          <a:prstGeom prst="rect">
            <a:avLst/>
          </a:prstGeom>
          <a:solidFill>
            <a:srgbClr val="16213E"/>
          </a:solidFill>
          <a:ln w="1016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54864" cy="1188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11480" y="2313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⛏  채광 &amp; 탐험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200x100 타일 맵 절차적 생성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/ Stone / Soil 자원 채취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4114800" cy="1188720"/>
          </a:xfrm>
          <a:prstGeom prst="rect">
            <a:avLst/>
          </a:prstGeom>
          <a:solidFill>
            <a:srgbClr val="16213E"/>
          </a:solidFill>
          <a:ln w="1016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54864" cy="1188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2313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⚔  전투 시스템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6974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방향키 공격, 넉백, 무적시간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슬라임 / 버섯 / 보스 몬스터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solidFill>
            <a:srgbClr val="16213E"/>
          </a:solidFill>
          <a:ln w="1016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54864" cy="1188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11480" y="3685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🎒  인벤토리 &amp; 제작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" y="40690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인벤토리 / 장비창 / 제작창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제작대 / 상자 상호작용 UI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611880"/>
            <a:ext cx="4114800" cy="1188720"/>
          </a:xfrm>
          <a:prstGeom prst="rect">
            <a:avLst/>
          </a:prstGeom>
          <a:solidFill>
            <a:srgbClr val="16213E"/>
          </a:solidFill>
          <a:ln w="1016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54864" cy="1188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3685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👑  보스 &amp; 엔딩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00600" y="40690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추적 / 돌진 스킬 / HP회복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 / Game Clear 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구현 범위  —  클래스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103120" cy="2121408"/>
          </a:xfrm>
          <a:prstGeom prst="rect">
            <a:avLst/>
          </a:prstGeom>
          <a:solidFill>
            <a:srgbClr val="1A1A2E"/>
          </a:solidFill>
          <a:ln w="1524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103120" cy="347472"/>
          </a:xfrm>
          <a:prstGeom prst="rect">
            <a:avLst/>
          </a:prstGeom>
          <a:solidFill>
            <a:srgbClr val="888888">
              <a:alpha val="85000"/>
            </a:srgbClr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Engine/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1338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GameApp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380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GameObject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SceneManager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121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ScreenBuffer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23682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6151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GameEvent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23160" y="749808"/>
            <a:ext cx="2103120" cy="2121408"/>
          </a:xfrm>
          <a:prstGeom prst="rect">
            <a:avLst/>
          </a:prstGeom>
          <a:solidFill>
            <a:srgbClr val="1A1A2E"/>
          </a:solidFill>
          <a:ln w="1524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423160" y="749808"/>
            <a:ext cx="2103120" cy="347472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468880" y="7498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Map/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11338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68880" y="1380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749808"/>
            <a:ext cx="2103120" cy="2121408"/>
          </a:xfrm>
          <a:prstGeom prst="rect">
            <a:avLst/>
          </a:prstGeom>
          <a:solidFill>
            <a:srgbClr val="1A1A2E"/>
          </a:solidFill>
          <a:ln w="1524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17720" y="749808"/>
            <a:ext cx="2103120" cy="347472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663440" y="7498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Scene/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11338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TitleScene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1380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LoadingScene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PlayScene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GameOverScene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2121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GameClearScene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12280" y="749808"/>
            <a:ext cx="2103120" cy="2121408"/>
          </a:xfrm>
          <a:prstGeom prst="rect">
            <a:avLst/>
          </a:prstGeom>
          <a:solidFill>
            <a:srgbClr val="1A1A2E"/>
          </a:solidFill>
          <a:ln w="15240">
            <a:solidFill>
              <a:srgbClr val="219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812280" y="749808"/>
            <a:ext cx="2103120" cy="347472"/>
          </a:xfrm>
          <a:prstGeom prst="rect">
            <a:avLst/>
          </a:prstGeom>
          <a:solidFill>
            <a:srgbClr val="2196F3">
              <a:alpha val="85000"/>
            </a:srgbClr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858000" y="7498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Player/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11338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0" y="1380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HpBar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AttackEffect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2962656"/>
            <a:ext cx="2103120" cy="2121408"/>
          </a:xfrm>
          <a:prstGeom prst="rect">
            <a:avLst/>
          </a:prstGeom>
          <a:solidFill>
            <a:srgbClr val="1A1A2E"/>
          </a:solidFill>
          <a:ln w="1524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28600" y="2962656"/>
            <a:ext cx="2103120" cy="347472"/>
          </a:xfrm>
          <a:prstGeom prst="rect">
            <a:avLst/>
          </a:prstGeom>
          <a:solidFill>
            <a:srgbClr val="9C27B0">
              <a:alpha val="85000"/>
            </a:srgbClr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74320" y="296265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Inventory/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3346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Inventory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74320" y="3593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Slot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4320" y="3840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QuickSlot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74320" y="4087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PlayerCraft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3342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PlayerEquipment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23160" y="2962656"/>
            <a:ext cx="2103120" cy="2121408"/>
          </a:xfrm>
          <a:prstGeom prst="rect">
            <a:avLst/>
          </a:prstGeom>
          <a:solidFill>
            <a:srgbClr val="1A1A2E"/>
          </a:solidFill>
          <a:ln w="1524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2423160" y="2962656"/>
            <a:ext cx="2103120" cy="347472"/>
          </a:xfrm>
          <a:prstGeom prst="rect">
            <a:avLst/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2468880" y="296265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Spawnable/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468880" y="3346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Spawner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468880" y="3593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SpawnManager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468880" y="3840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Slime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468880" y="4087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Mushroom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468880" y="43342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SpawnerBox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468880" y="45811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Boss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17720" y="2962656"/>
            <a:ext cx="2103120" cy="2121408"/>
          </a:xfrm>
          <a:prstGeom prst="rect">
            <a:avLst/>
          </a:prstGeom>
          <a:solidFill>
            <a:srgbClr val="1A1A2E"/>
          </a:solidFill>
          <a:ln w="15240">
            <a:solidFill>
              <a:srgbClr val="FF9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617720" y="2962656"/>
            <a:ext cx="2103120" cy="347472"/>
          </a:xfrm>
          <a:prstGeom prst="rect">
            <a:avLst/>
          </a:prstGeom>
          <a:solidFill>
            <a:srgbClr val="FF9800">
              <a:alpha val="85000"/>
            </a:srgbClr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663440" y="296265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Item/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663440" y="3346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 (base)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663440" y="3593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TileItem ×3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663440" y="3840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HealItem ×2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663440" y="4087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InteractiveItem ×4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663440" y="43342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Equipment ×10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663440" y="45811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Legendary ×5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663440" y="4828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ItemInterface ×8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812280" y="2962656"/>
            <a:ext cx="2103120" cy="2121408"/>
          </a:xfrm>
          <a:prstGeom prst="rect">
            <a:avLst/>
          </a:prstGeom>
          <a:solidFill>
            <a:srgbClr val="1A1A2E"/>
          </a:solidFill>
          <a:ln w="1524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812280" y="2962656"/>
            <a:ext cx="2103120" cy="347472"/>
          </a:xfrm>
          <a:prstGeom prst="rect">
            <a:avLst/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6858000" y="296265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Combat/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858000" y="3346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IAttacker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858000" y="3593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IDefender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858000" y="3840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IChaseable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58000" y="4087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IKnockbackable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개발 과정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685800"/>
            <a:ext cx="1664208" cy="4160520"/>
          </a:xfrm>
          <a:prstGeom prst="rect">
            <a:avLst/>
          </a:prstGeom>
          <a:solidFill>
            <a:srgbClr val="1A1A2E"/>
          </a:solidFill>
          <a:ln w="1524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56032" y="685800"/>
            <a:ext cx="1664208" cy="658368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9184" y="722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987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기반 시스템 구축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" y="1362456"/>
            <a:ext cx="1517904" cy="18288"/>
          </a:xfrm>
          <a:prstGeom prst="rect">
            <a:avLst/>
          </a:prstGeom>
          <a:solidFill>
            <a:srgbClr val="F5C518">
              <a:alpha val="50000"/>
            </a:srgbClr>
          </a:solidFill>
          <a:ln w="12700">
            <a:solidFill>
              <a:srgbClr val="F5C51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47472" y="1527048"/>
            <a:ext cx="109728" cy="109728"/>
          </a:xfrm>
          <a:prstGeom prst="ellipse">
            <a:avLst/>
          </a:prstGeom>
          <a:solidFill>
            <a:srgbClr val="F5C518">
              <a:alpha val="8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1453896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기획 및 구현 범위 설정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148840"/>
            <a:ext cx="109728" cy="109728"/>
          </a:xfrm>
          <a:prstGeom prst="ellipse">
            <a:avLst/>
          </a:prstGeom>
          <a:solidFill>
            <a:srgbClr val="F5C518">
              <a:alpha val="8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07568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200×100 타일 맵 절차 생성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770632"/>
            <a:ext cx="109728" cy="109728"/>
          </a:xfrm>
          <a:prstGeom prst="ellipse">
            <a:avLst/>
          </a:prstGeom>
          <a:solidFill>
            <a:srgbClr val="F5C518">
              <a:alpha val="8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697480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이동 구현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392424"/>
            <a:ext cx="109728" cy="109728"/>
          </a:xfrm>
          <a:prstGeom prst="ellipse">
            <a:avLst/>
          </a:prstGeom>
          <a:solidFill>
            <a:srgbClr val="F5C518">
              <a:alpha val="8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319272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채굴 기능 추가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11680" y="685800"/>
            <a:ext cx="1664208" cy="4160520"/>
          </a:xfrm>
          <a:prstGeom prst="rect">
            <a:avLst/>
          </a:prstGeom>
          <a:solidFill>
            <a:srgbClr val="1A1A2E"/>
          </a:solidFill>
          <a:ln w="1524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011680" y="685800"/>
            <a:ext cx="1664208" cy="658368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084832" y="722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84832" y="987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아이템 &amp; 인벤토리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84832" y="1362456"/>
            <a:ext cx="1517904" cy="18288"/>
          </a:xfrm>
          <a:prstGeom prst="rect">
            <a:avLst/>
          </a:prstGeom>
          <a:solidFill>
            <a:srgbClr val="4CAF50">
              <a:alpha val="50000"/>
            </a:srgbClr>
          </a:solidFill>
          <a:ln w="12700">
            <a:solidFill>
              <a:srgbClr val="4CAF5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103120" y="1527048"/>
            <a:ext cx="109728" cy="109728"/>
          </a:xfrm>
          <a:prstGeom prst="ellipse">
            <a:avLst/>
          </a:prstGeom>
          <a:solidFill>
            <a:srgbClr val="4CAF50">
              <a:alpha val="80000"/>
            </a:srgbClr>
          </a:solidFill>
          <a:ln w="63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258568" y="1453896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 구현 설계 (인터페이스 기반)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03120" y="2148840"/>
            <a:ext cx="109728" cy="109728"/>
          </a:xfrm>
          <a:prstGeom prst="ellipse">
            <a:avLst/>
          </a:prstGeom>
          <a:solidFill>
            <a:srgbClr val="4CAF50">
              <a:alpha val="80000"/>
            </a:srgbClr>
          </a:solidFill>
          <a:ln w="63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258568" y="207568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채굴 시 아이템 드랍 구현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03120" y="2770632"/>
            <a:ext cx="109728" cy="109728"/>
          </a:xfrm>
          <a:prstGeom prst="ellipse">
            <a:avLst/>
          </a:prstGeom>
          <a:solidFill>
            <a:srgbClr val="4CAF50">
              <a:alpha val="80000"/>
            </a:srgbClr>
          </a:solidFill>
          <a:ln w="63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58568" y="2697480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떨어진 아이템 수집 / 삭제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103120" y="3392424"/>
            <a:ext cx="109728" cy="109728"/>
          </a:xfrm>
          <a:prstGeom prst="ellipse">
            <a:avLst/>
          </a:prstGeom>
          <a:solidFill>
            <a:srgbClr val="4CAF50">
              <a:alpha val="80000"/>
            </a:srgbClr>
          </a:solidFill>
          <a:ln w="63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258568" y="3319272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클래스 및 인벤토리 UI 구현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103120" y="4014216"/>
            <a:ext cx="109728" cy="109728"/>
          </a:xfrm>
          <a:prstGeom prst="ellipse">
            <a:avLst/>
          </a:prstGeom>
          <a:solidFill>
            <a:srgbClr val="4CAF50">
              <a:alpha val="80000"/>
            </a:srgbClr>
          </a:solidFill>
          <a:ln w="63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258568" y="3941064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인벤토리 Select / 교체 기능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67328" y="685800"/>
            <a:ext cx="1664208" cy="4160520"/>
          </a:xfrm>
          <a:prstGeom prst="rect">
            <a:avLst/>
          </a:prstGeom>
          <a:solidFill>
            <a:srgbClr val="1A1A2E"/>
          </a:solidFill>
          <a:ln w="1524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767328" y="685800"/>
            <a:ext cx="1664208" cy="658368"/>
          </a:xfrm>
          <a:prstGeom prst="rect">
            <a:avLst/>
          </a:prstGeom>
          <a:solidFill>
            <a:srgbClr val="00BCD4">
              <a:alpha val="85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840480" y="722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40480" y="987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전투 &amp; 몬스터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840480" y="1362456"/>
            <a:ext cx="1517904" cy="18288"/>
          </a:xfrm>
          <a:prstGeom prst="rect">
            <a:avLst/>
          </a:prstGeom>
          <a:solidFill>
            <a:srgbClr val="00BCD4">
              <a:alpha val="50000"/>
            </a:srgbClr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858768" y="1527048"/>
            <a:ext cx="109728" cy="109728"/>
          </a:xfrm>
          <a:prstGeom prst="ellipse">
            <a:avLst/>
          </a:prstGeom>
          <a:solidFill>
            <a:srgbClr val="00BCD4">
              <a:alpha val="80000"/>
            </a:srgbClr>
          </a:solidFill>
          <a:ln w="63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014216" y="1453896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공격 기능 (방향키)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58768" y="2148840"/>
            <a:ext cx="109728" cy="109728"/>
          </a:xfrm>
          <a:prstGeom prst="ellipse">
            <a:avLst/>
          </a:prstGeom>
          <a:solidFill>
            <a:srgbClr val="00BCD4">
              <a:alpha val="80000"/>
            </a:srgbClr>
          </a:solidFill>
          <a:ln w="63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014216" y="207568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애니메이션 이펙트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858768" y="2770632"/>
            <a:ext cx="109728" cy="109728"/>
          </a:xfrm>
          <a:prstGeom prst="ellipse">
            <a:avLst/>
          </a:prstGeom>
          <a:solidFill>
            <a:srgbClr val="00BCD4">
              <a:alpha val="80000"/>
            </a:srgbClr>
          </a:solidFill>
          <a:ln w="63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014216" y="2697480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Spawner 구현 (Mushroom / Slime)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858768" y="3392424"/>
            <a:ext cx="109728" cy="109728"/>
          </a:xfrm>
          <a:prstGeom prst="ellipse">
            <a:avLst/>
          </a:prstGeom>
          <a:solidFill>
            <a:srgbClr val="00BCD4">
              <a:alpha val="80000"/>
            </a:srgbClr>
          </a:solidFill>
          <a:ln w="63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014216" y="3319272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슬라임 Chase AI 및 넉백 효과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58768" y="4014216"/>
            <a:ext cx="109728" cy="109728"/>
          </a:xfrm>
          <a:prstGeom prst="ellipse">
            <a:avLst/>
          </a:prstGeom>
          <a:solidFill>
            <a:srgbClr val="00BCD4">
              <a:alpha val="80000"/>
            </a:srgbClr>
          </a:solidFill>
          <a:ln w="63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014216" y="3941064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 시 아이템 드랍 &amp; 수집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522976" y="685800"/>
            <a:ext cx="1664208" cy="4160520"/>
          </a:xfrm>
          <a:prstGeom prst="rect">
            <a:avLst/>
          </a:prstGeom>
          <a:solidFill>
            <a:srgbClr val="1A1A2E"/>
          </a:solidFill>
          <a:ln w="1524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522976" y="685800"/>
            <a:ext cx="1664208" cy="658368"/>
          </a:xfrm>
          <a:prstGeom prst="rect">
            <a:avLst/>
          </a:prstGeom>
          <a:solidFill>
            <a:srgbClr val="9C27B0">
              <a:alpha val="85000"/>
            </a:srgbClr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596128" y="722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2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596128" y="987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제작 &amp; 장비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596128" y="1362456"/>
            <a:ext cx="1517904" cy="18288"/>
          </a:xfrm>
          <a:prstGeom prst="rect">
            <a:avLst/>
          </a:prstGeom>
          <a:solidFill>
            <a:srgbClr val="9C27B0">
              <a:alpha val="50000"/>
            </a:srgbClr>
          </a:solidFill>
          <a:ln w="12700">
            <a:solidFill>
              <a:srgbClr val="9C27B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614416" y="1527048"/>
            <a:ext cx="109728" cy="109728"/>
          </a:xfrm>
          <a:prstGeom prst="ellipse">
            <a:avLst/>
          </a:prstGeom>
          <a:solidFill>
            <a:srgbClr val="9C27B0">
              <a:alpha val="80000"/>
            </a:srgbClr>
          </a:solidFill>
          <a:ln w="63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769864" y="1453896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제작창 / 장비창 UI 추가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614416" y="2148840"/>
            <a:ext cx="109728" cy="109728"/>
          </a:xfrm>
          <a:prstGeom prst="ellipse">
            <a:avLst/>
          </a:prstGeom>
          <a:solidFill>
            <a:srgbClr val="9C27B0">
              <a:alpha val="80000"/>
            </a:srgbClr>
          </a:solidFill>
          <a:ln w="63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769864" y="207568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제작대 설치 및 상호작용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614416" y="2770632"/>
            <a:ext cx="109728" cy="109728"/>
          </a:xfrm>
          <a:prstGeom prst="ellipse">
            <a:avLst/>
          </a:prstGeom>
          <a:solidFill>
            <a:srgbClr val="9C27B0">
              <a:alpha val="80000"/>
            </a:srgbClr>
          </a:solidFill>
          <a:ln w="63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769864" y="2697480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착용 / 해제 및 스탯 반영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14416" y="3392424"/>
            <a:ext cx="109728" cy="109728"/>
          </a:xfrm>
          <a:prstGeom prst="ellipse">
            <a:avLst/>
          </a:prstGeom>
          <a:solidFill>
            <a:srgbClr val="9C27B0">
              <a:alpha val="80000"/>
            </a:srgbClr>
          </a:solidFill>
          <a:ln w="63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5769864" y="3319272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아이템 구현 (Stone / Slime)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614416" y="4014216"/>
            <a:ext cx="109728" cy="109728"/>
          </a:xfrm>
          <a:prstGeom prst="ellipse">
            <a:avLst/>
          </a:prstGeom>
          <a:solidFill>
            <a:srgbClr val="9C27B0">
              <a:alpha val="80000"/>
            </a:srgbClr>
          </a:solidFill>
          <a:ln w="63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5769864" y="3941064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 설치 기능 구현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278624" y="685800"/>
            <a:ext cx="1664208" cy="4160520"/>
          </a:xfrm>
          <a:prstGeom prst="rect">
            <a:avLst/>
          </a:prstGeom>
          <a:solidFill>
            <a:srgbClr val="1A1A2E"/>
          </a:solidFill>
          <a:ln w="1524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7278624" y="685800"/>
            <a:ext cx="1664208" cy="658368"/>
          </a:xfrm>
          <a:prstGeom prst="rect">
            <a:avLst/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7351776" y="722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351776" y="987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컨텐츠 확장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351776" y="1362456"/>
            <a:ext cx="1517904" cy="18288"/>
          </a:xfrm>
          <a:prstGeom prst="rect">
            <a:avLst/>
          </a:prstGeom>
          <a:solidFill>
            <a:srgbClr val="E94560">
              <a:alpha val="50000"/>
            </a:srgbClr>
          </a:solidFill>
          <a:ln w="12700">
            <a:solidFill>
              <a:srgbClr val="E9456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7370064" y="1527048"/>
            <a:ext cx="109728" cy="109728"/>
          </a:xfrm>
          <a:prstGeom prst="ellipse">
            <a:avLst/>
          </a:prstGeom>
          <a:solidFill>
            <a:srgbClr val="E94560">
              <a:alpha val="80000"/>
            </a:srgbClr>
          </a:solidFill>
          <a:ln w="63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7525512" y="1453896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SpawnerBox 및 전설 아이템 추가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370064" y="2148840"/>
            <a:ext cx="109728" cy="109728"/>
          </a:xfrm>
          <a:prstGeom prst="ellipse">
            <a:avLst/>
          </a:prstGeom>
          <a:solidFill>
            <a:srgbClr val="E94560">
              <a:alpha val="80000"/>
            </a:srgbClr>
          </a:solidFill>
          <a:ln w="63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7525512" y="207568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 스탯 드랍 시스템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7370064" y="2770632"/>
            <a:ext cx="109728" cy="109728"/>
          </a:xfrm>
          <a:prstGeom prst="ellipse">
            <a:avLst/>
          </a:prstGeom>
          <a:solidFill>
            <a:srgbClr val="E94560">
              <a:alpha val="80000"/>
            </a:srgbClr>
          </a:solidFill>
          <a:ln w="63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7525512" y="2697480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아이템 기호 및 UI 전반 수정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370064" y="3392424"/>
            <a:ext cx="109728" cy="109728"/>
          </a:xfrm>
          <a:prstGeom prst="ellipse">
            <a:avLst/>
          </a:prstGeom>
          <a:solidFill>
            <a:srgbClr val="E94560">
              <a:alpha val="80000"/>
            </a:srgbClr>
          </a:solidFill>
          <a:ln w="63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7525512" y="3319272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AI 구현 (상태머신 / 돌진)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7370064" y="4014216"/>
            <a:ext cx="109728" cy="109728"/>
          </a:xfrm>
          <a:prstGeom prst="ellipse">
            <a:avLst/>
          </a:prstGeom>
          <a:solidFill>
            <a:srgbClr val="E94560">
              <a:alpha val="80000"/>
            </a:srgbClr>
          </a:solidFill>
          <a:ln w="63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7525512" y="3941064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GameOver / GameClear 씬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맵 생성 시스템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566928"/>
            <a:ext cx="45720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맵 크기 : 200 × 100 타일  |  타일 1개 = 스크린 4×2 픽셀  |  총 20,000 타일로 구성된 월드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1207008"/>
            <a:ext cx="310896" cy="310896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01168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" y="1536192"/>
            <a:ext cx="36576" cy="329184"/>
          </a:xfrm>
          <a:prstGeom prst="rect">
            <a:avLst/>
          </a:prstGeom>
          <a:solidFill>
            <a:srgbClr val="555555">
              <a:alpha val="40000"/>
            </a:srgbClr>
          </a:solidFill>
          <a:ln w="12700">
            <a:solidFill>
              <a:srgbClr val="5555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94360" y="1115568"/>
            <a:ext cx="4160520" cy="621792"/>
          </a:xfrm>
          <a:prstGeom prst="rect">
            <a:avLst/>
          </a:prstGeom>
          <a:solidFill>
            <a:srgbClr val="1A1A2E"/>
          </a:solidFill>
          <a:ln w="10160">
            <a:solidFill>
              <a:srgbClr val="5555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94360" y="1115568"/>
            <a:ext cx="45720" cy="62179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11521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Ground 초기화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200×100 전체 타일을 Ground로 초기화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1938528"/>
            <a:ext cx="310896" cy="310896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01168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" y="2267712"/>
            <a:ext cx="36576" cy="329184"/>
          </a:xfrm>
          <a:prstGeom prst="rect">
            <a:avLst/>
          </a:prstGeom>
          <a:solidFill>
            <a:srgbClr val="9E9E9E">
              <a:alpha val="40000"/>
            </a:srgbClr>
          </a:solidFill>
          <a:ln w="12700">
            <a:solidFill>
              <a:srgbClr val="9E9E9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94360" y="1847088"/>
            <a:ext cx="4160520" cy="621792"/>
          </a:xfrm>
          <a:prstGeom prst="rect">
            <a:avLst/>
          </a:prstGeom>
          <a:solidFill>
            <a:srgbClr val="1A1A2E"/>
          </a:solidFill>
          <a:ln w="10160">
            <a:solidFill>
              <a:srgbClr val="9E9E9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94360" y="1847088"/>
            <a:ext cx="45720" cy="62179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5800" y="188366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 / Stone 군집 생성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21488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확률로 씨앗 배치 → Spread()로 군집 확산 (75% Soil / 25% Stone)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2670048"/>
            <a:ext cx="310896" cy="310896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01168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" y="2999232"/>
            <a:ext cx="36576" cy="329184"/>
          </a:xfrm>
          <a:prstGeom prst="rect">
            <a:avLst/>
          </a:prstGeom>
          <a:solidFill>
            <a:srgbClr val="8B6914">
              <a:alpha val="40000"/>
            </a:srgbClr>
          </a:solidFill>
          <a:ln w="12700">
            <a:solidFill>
              <a:srgbClr val="8B691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94360" y="2578608"/>
            <a:ext cx="4160520" cy="621792"/>
          </a:xfrm>
          <a:prstGeom prst="rect">
            <a:avLst/>
          </a:prstGeom>
          <a:solidFill>
            <a:srgbClr val="1A1A2E"/>
          </a:solidFill>
          <a:ln w="10160">
            <a:solidFill>
              <a:srgbClr val="8B6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94360" y="2578608"/>
            <a:ext cx="45720" cy="62179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5800" y="261518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Wood 군집 생성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2880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 확률로 씨앗 배치 → Spread()로 나무 숲 생성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" y="3401568"/>
            <a:ext cx="310896" cy="31089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0116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" y="3730752"/>
            <a:ext cx="36576" cy="329184"/>
          </a:xfrm>
          <a:prstGeom prst="rect">
            <a:avLst/>
          </a:prstGeom>
          <a:solidFill>
            <a:srgbClr val="4CAF50">
              <a:alpha val="40000"/>
            </a:srgbClr>
          </a:solidFill>
          <a:ln w="12700">
            <a:solidFill>
              <a:srgbClr val="4CAF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94360" y="3310128"/>
            <a:ext cx="4160520" cy="621792"/>
          </a:xfrm>
          <a:prstGeom prst="rect">
            <a:avLst/>
          </a:prstGeom>
          <a:solidFill>
            <a:srgbClr val="1A1A2E"/>
          </a:solidFill>
          <a:ln w="1016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94360" y="3310128"/>
            <a:ext cx="45720" cy="6217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85800" y="334670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 구역 보호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" y="3611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 중앙 (100,50) ±3타일 → Ground 강제 초기화 (시작 지점 보호)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1168" y="4133088"/>
            <a:ext cx="310896" cy="31089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01168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4041648"/>
            <a:ext cx="4160520" cy="621792"/>
          </a:xfrm>
          <a:prstGeom prst="rect">
            <a:avLst/>
          </a:prstGeom>
          <a:solidFill>
            <a:srgbClr val="1A1A2E"/>
          </a:solidFill>
          <a:ln w="1016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94360" y="4041648"/>
            <a:ext cx="45720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85800" y="407822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보스 구역 설정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85800" y="43434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 끝 (4방향 중 랜덤) → 20×20 범위 클리어 후 보스 스폰 위치 지정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83480" y="566928"/>
            <a:ext cx="3977640" cy="1810512"/>
          </a:xfrm>
          <a:prstGeom prst="rect">
            <a:avLst/>
          </a:prstGeom>
          <a:solidFill>
            <a:srgbClr val="1A1A2E"/>
          </a:solidFill>
          <a:ln w="127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983480" y="566928"/>
            <a:ext cx="45720" cy="181051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093208" y="6035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 타입 &amp; 속성  (타일 1개 = 4×2 스크린 픽셀)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093208" y="978408"/>
            <a:ext cx="128016" cy="16459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266944" y="941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26480" y="9418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HP:0  이동:✓  채굴:✗  이동 가능 / 채굴 불가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93208" y="1252728"/>
            <a:ext cx="128016" cy="16459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266944" y="12161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9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Wood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26480" y="12161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HP:2  이동:✗  채굴:✓  채굴 시 WoodItem 드랍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93208" y="1527048"/>
            <a:ext cx="128016" cy="1645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266944" y="1490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26480" y="1490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HP:3  이동:✗  채굴:✓  채굴 시 SoilItem 드랍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93208" y="1801368"/>
            <a:ext cx="128016" cy="16459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266944" y="17647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E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Stone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26480" y="1764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HP:5  이동:✗  채굴:✓  채굴 시 StoneItem 드랍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93208" y="2075688"/>
            <a:ext cx="128016" cy="1645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266944" y="20391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126480" y="20391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HP:3  이동:✗  채굴:✓  설치 아이템 (제작대/상자)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983480" y="2514600"/>
            <a:ext cx="1901952" cy="2487168"/>
          </a:xfrm>
          <a:prstGeom prst="rect">
            <a:avLst/>
          </a:prstGeom>
          <a:solidFill>
            <a:srgbClr val="1A1A2E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4983480" y="2514600"/>
            <a:ext cx="45720" cy="24871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5093208" y="255117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 알고리즘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093208" y="28986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재귀 호출로 상하좌우 확산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093208" y="33009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depth로 최대 확산 거리 제한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93208" y="37033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spreadChance로 확산 확률 조정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093208" y="410565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이미 같은 타입이면 스킵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093208" y="450799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맵 경계 벗어나면 종료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040880" y="2514600"/>
            <a:ext cx="1920240" cy="2487168"/>
          </a:xfrm>
          <a:prstGeom prst="rect">
            <a:avLst/>
          </a:prstGeom>
          <a:solidFill>
            <a:srgbClr val="1A1A2E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7040880" y="2514600"/>
            <a:ext cx="45720" cy="24871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7150608" y="2551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SpawnManager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7150608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Register&lt;T&gt;()로 타입 등록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150608" y="33009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s_MaxCount 초과 시 스폰 금지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150608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3초마다 부족분 자동 보충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150608" y="41056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보스 구역 근처 스폰 금지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150608" y="4507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중앙 스폰 구역 근처 금지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EE4A20-9B9F-FCCB-FCA5-B16C87AD5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6E72FB-7B87-B62E-9CD6-518D758DF59D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576BF7-7022-6F3B-C7CB-8AFB5A0F57AE}"/>
              </a:ext>
            </a:extLst>
          </p:cNvPr>
          <p:cNvSpPr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맵 생성 시스템</a:t>
            </a:r>
            <a:endParaRPr lang="en-US" sz="2600" dirty="0"/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031A937F-9360-D656-C033-3A0303491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99" y="807057"/>
            <a:ext cx="3440074" cy="1865415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A01533A1-B5DB-10C5-BC58-65D5B09B1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376" y="839404"/>
            <a:ext cx="3453369" cy="1833068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89C2A136-67DE-E6BC-D266-5CA55D478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30" y="2809765"/>
            <a:ext cx="3455755" cy="1827218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8FF5A5D9-26E8-8655-F389-0CD77F2A4C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5339" y="3008956"/>
            <a:ext cx="3383745" cy="513522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FB5F443D-27E5-7424-EEE1-CF4AD0D90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8658" y="3719524"/>
            <a:ext cx="3410426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8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아이템</a:t>
            </a:r>
            <a:r>
              <a:rPr lang="en-US" sz="26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시스템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4864" cy="12801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일반 장비 (Wood / Stone / Slime)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WoodSword (+5 Attack) / WoodPickaxe (+1 Mining)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StoneSword (+8 Attack) / StonePickaxe (+2 Mining)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WoodHelmet/Armor / StoneHelmet/Armor / SlimeHelmet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SlimeHelmet 착용 시 슬라임이 추적 안 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8595360" cy="128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54864" cy="1280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전설 아이템 (랜덤 스탯)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6700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Blood Sword: Attack +15~40 (랜덤)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Titan Pickaxe: Mining +5~15 (랜덤)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Phantom Helmet / Warlord’s Armor: MaxHp 랜덤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Crimson Potion: Heal +30~60 (랜덤)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703320"/>
            <a:ext cx="8595360" cy="128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3703320"/>
            <a:ext cx="54864" cy="12801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SpawnerBox 드랍 시스템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087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Hp 5짜리 상자 → 파괴 시 아이템 드랍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80% 확률로 전설 아이템 / 20% 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5종 중 하나가 각 12% 확률로 선택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생성 시점에 스탯 랜덤 결정</a:t>
            </a:r>
            <a:endParaRPr lang="en-US" sz="11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5D0B0F1-61DB-0A82-AA30-8D4945781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438" y="1048932"/>
            <a:ext cx="2685469" cy="90336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968414E-AF9E-56CE-EE4A-3E0EC78DF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903" y="2596896"/>
            <a:ext cx="2534004" cy="53347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DE8AD0E-C697-C72D-2539-38589790A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074" y="3890772"/>
            <a:ext cx="1460333" cy="9331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9C2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인벤토리</a:t>
            </a:r>
            <a:r>
              <a:rPr lang="en-US" sz="2600" b="1" dirty="0">
                <a:solidFill>
                  <a:srgbClr val="9C2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시스템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685800"/>
            <a:ext cx="2194560" cy="548640"/>
          </a:xfrm>
          <a:prstGeom prst="rect">
            <a:avLst/>
          </a:prstGeom>
          <a:solidFill>
            <a:srgbClr val="9C27B0">
              <a:alpha val="85000"/>
            </a:srgbClr>
          </a:solidFill>
          <a:ln w="2540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474720" y="685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960120"/>
            <a:ext cx="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023360" y="1234440"/>
            <a:ext cx="0" cy="457200"/>
          </a:xfrm>
          <a:prstGeom prst="line">
            <a:avLst/>
          </a:prstGeom>
          <a:noFill/>
          <a:ln w="1905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137160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120640" y="960120"/>
            <a:ext cx="0" cy="457200"/>
          </a:xfrm>
          <a:prstGeom prst="line">
            <a:avLst/>
          </a:prstGeom>
          <a:noFill/>
          <a:ln w="1905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97280" y="685800"/>
            <a:ext cx="1645920" cy="5486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97280" y="685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QuickSlot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1737360" cy="548640"/>
          </a:xfrm>
          <a:prstGeom prst="rect">
            <a:avLst/>
          </a:prstGeom>
          <a:solidFill>
            <a:srgbClr val="1A1A2E"/>
          </a:solidFill>
          <a:ln w="190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20040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PlayerCraft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685800"/>
            <a:ext cx="1828800" cy="548640"/>
          </a:xfrm>
          <a:prstGeom prst="rect">
            <a:avLst/>
          </a:prstGeom>
          <a:solidFill>
            <a:srgbClr val="1A1A2E"/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040880" y="685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PlayerEquipment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914400" cy="548640"/>
          </a:xfrm>
          <a:prstGeom prst="rect">
            <a:avLst/>
          </a:prstGeom>
          <a:solidFill>
            <a:srgbClr val="1A1A2E"/>
          </a:solidFill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6344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1168" y="2423160"/>
            <a:ext cx="2103120" cy="2542032"/>
          </a:xfrm>
          <a:prstGeom prst="rect">
            <a:avLst/>
          </a:prstGeom>
          <a:solidFill>
            <a:srgbClr val="1A1A2E"/>
          </a:solidFill>
          <a:ln w="1524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01168" y="2423160"/>
            <a:ext cx="2103120" cy="457200"/>
          </a:xfrm>
          <a:prstGeom prst="rect">
            <a:avLst/>
          </a:prstGeom>
          <a:solidFill>
            <a:srgbClr val="9C27B0">
              <a:alpha val="85000"/>
            </a:srgbClr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92608" y="2441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" y="26974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12×2 슬롯 / Tab 키로 열기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95351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FocusPanel 열거형으로 패널 전환 관리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3375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Inventory ↔ Craft ↔ Equipment 포커스 이동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7216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Grab &amp; Swap 아이템 교환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10565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장착 모드 (StartEquipping) 지원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4897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Q키로 아이템 삭제 / Drop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41448" y="2423160"/>
            <a:ext cx="2103120" cy="2542032"/>
          </a:xfrm>
          <a:prstGeom prst="rect">
            <a:avLst/>
          </a:prstGeom>
          <a:solidFill>
            <a:srgbClr val="1A1A2E"/>
          </a:solidFill>
          <a:ln w="1524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441448" y="2423160"/>
            <a:ext cx="2103120" cy="457200"/>
          </a:xfrm>
          <a:prstGeom prst="rect">
            <a:avLst/>
          </a:prstGeom>
          <a:solidFill>
            <a:srgbClr val="00BCD4">
              <a:alpha val="85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32888" y="2441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QuickSlot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32888" y="26974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인벤토리 1행 앞 6칸 / 화면 하단 고정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14600" y="295351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1~6 숫자키로 슬롯 선택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33375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Space키로 선택 아이템 즉시 사용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14600" y="37216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인벤토리 열리면 자동 숨김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14600" y="410565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UI 열릴 때 비활성화 (IsActive)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81728" y="2423160"/>
            <a:ext cx="2103120" cy="2542032"/>
          </a:xfrm>
          <a:prstGeom prst="rect">
            <a:avLst/>
          </a:prstGeom>
          <a:solidFill>
            <a:srgbClr val="1A1A2E"/>
          </a:solidFill>
          <a:ln w="1524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681728" y="2423160"/>
            <a:ext cx="2103120" cy="457200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773168" y="2441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PlayerCraft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73168" y="26974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 제작 슬롯 / 기본 제작 레시피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95351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Workbench / Box / Wood 장비 6종 제작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33375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ICraftable.Recipe로 재료 자동 확인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37216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재료 부족 시 메시지 출력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410565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Requires | Stats 정보 실시간 표시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44897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인벤토리 패널과 W/S로 포커스 전환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22008" y="2423160"/>
            <a:ext cx="2103120" cy="2542032"/>
          </a:xfrm>
          <a:prstGeom prst="rect">
            <a:avLst/>
          </a:prstGeom>
          <a:solidFill>
            <a:srgbClr val="1A1A2E"/>
          </a:solidFill>
          <a:ln w="1524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922008" y="2423160"/>
            <a:ext cx="2103120" cy="457200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013448" y="2441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PlayerEquipment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013448" y="26974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/ Armor / RightHand 3슬롯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95160" y="295351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장착 시 IEquippable.Equip() 호출 → 스탯 즉시 적용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95160" y="33375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해제 시 Unequip() → 스탯 롤백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95160" y="37216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플레이어 외형에 장비 색상 반영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95160" y="410565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Effect 프로퍼티로 장비 효과 표시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95160" y="448970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인벤토리에서 StartEquipping으로 연동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16C5A-22F7-444F-A42F-EB9F9CCF5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C46C49-BABC-E7A4-D553-044A7F43D3E6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066A37-078D-B23C-7543-2CF38914B1D5}"/>
              </a:ext>
            </a:extLst>
          </p:cNvPr>
          <p:cNvSpPr/>
          <p:nvPr/>
        </p:nvSpPr>
        <p:spPr>
          <a:xfrm>
            <a:off x="274320" y="1097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9C2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인벤토리</a:t>
            </a:r>
            <a:r>
              <a:rPr lang="en-US" sz="2600" b="1" dirty="0">
                <a:solidFill>
                  <a:srgbClr val="9C2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시스템</a:t>
            </a:r>
            <a:endParaRPr lang="en-US" sz="2600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CB5A7B55-17C8-5535-8CCD-80D57C95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30" y="640754"/>
            <a:ext cx="3301926" cy="173834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7EF3ABB4-8580-B4B7-D1A5-A65811C3D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759" y="503075"/>
            <a:ext cx="3516725" cy="1876028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D6CE3886-B6C3-46B4-62C5-F0C8E5A0B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30" y="2979922"/>
            <a:ext cx="3304351" cy="1800949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DD3D4DF1-D969-BC64-0C9E-2E2A981FD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3558" y="2979922"/>
            <a:ext cx="3536078" cy="1848558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33EC9C58-17C1-7242-5554-D718476E3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102" y="1981738"/>
            <a:ext cx="2052560" cy="1395549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264E5E03-9C56-87B1-C6AB-AFF08AE63E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2926" y="2163291"/>
            <a:ext cx="1387605" cy="103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11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Spawnable</a:t>
            </a:r>
            <a:r>
              <a:rPr lang="en-US" sz="28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클래스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834640" cy="2011680"/>
          </a:xfrm>
          <a:prstGeom prst="rect">
            <a:avLst/>
          </a:prstGeom>
          <a:solidFill>
            <a:srgbClr val="1A1A2E"/>
          </a:solidFill>
          <a:ln w="1524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834640" cy="438912"/>
          </a:xfrm>
          <a:prstGeom prst="rect">
            <a:avLst/>
          </a:prstGeom>
          <a:solidFill>
            <a:srgbClr val="888888">
              <a:alpha val="85000"/>
            </a:srgbClr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20040" y="76809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9875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2435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스폰 오브젝트의 기반 클래스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TileX / TileY  타일 좌표 보유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81051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GetScreenPos()  타일 → 스크린 좌표 변환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06654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IsInView()  화면 내 가시 여부 확인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36392" y="749808"/>
            <a:ext cx="2834640" cy="2011680"/>
          </a:xfrm>
          <a:prstGeom prst="rect">
            <a:avLst/>
          </a:prstGeom>
          <a:solidFill>
            <a:srgbClr val="1A1A2E"/>
          </a:solidFill>
          <a:ln w="1524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136392" y="749808"/>
            <a:ext cx="2834640" cy="438912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227832" y="76809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SpawnManager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27832" y="9875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27832" y="12435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스포너 타입 등록 및 수량 관리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27832" y="15544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Register&lt;T&gt;()  스폰할 타입 등록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27832" y="181051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SpawnAll()  최대 수량까지 일괄 스폰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27832" y="206654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3초 주기로 부족분 자동 보충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44184" y="749808"/>
            <a:ext cx="2834640" cy="2011680"/>
          </a:xfrm>
          <a:prstGeom prst="rect">
            <a:avLst/>
          </a:prstGeom>
          <a:solidFill>
            <a:srgbClr val="1A1A2E"/>
          </a:solidFill>
          <a:ln w="15240">
            <a:solidFill>
              <a:srgbClr val="AB47B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044184" y="749808"/>
            <a:ext cx="2834640" cy="438912"/>
          </a:xfrm>
          <a:prstGeom prst="rect">
            <a:avLst/>
          </a:prstGeom>
          <a:solidFill>
            <a:srgbClr val="AB47BC">
              <a:alpha val="85000"/>
            </a:srgbClr>
          </a:solidFill>
          <a:ln w="12700">
            <a:solidFill>
              <a:srgbClr val="AB47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135624" y="76809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Mushroom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35624" y="9875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IDefender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35624" y="12435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고정형 몬스터 / HP 1 / 한 방에 처치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35624" y="15544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MaxHp: 1  한 번 공격받으면 사망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35624" y="181051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사망 시 MushroomItem 드랍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35624" y="206654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s_MaxCount: 60  최대 동시 존재 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2852928"/>
            <a:ext cx="2834640" cy="2011680"/>
          </a:xfrm>
          <a:prstGeom prst="rect">
            <a:avLst/>
          </a:prstGeom>
          <a:solidFill>
            <a:srgbClr val="1A1A2E"/>
          </a:solidFill>
          <a:ln w="1524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28600" y="2852928"/>
            <a:ext cx="2834640" cy="438912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20040" y="28712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Slime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040" y="30906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IAttacker, IDefender, IChaseable, IKnockbackable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33467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추적형 몬스터 / 플레이어 감지 후 이동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" y="36576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DetectRange: 4  감지 거리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0040" y="391363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MoveInterval: 0.5  이동 주기(초)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416966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SlimeHelmet 착용 시 추적 중단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0040" y="442569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사망 시 SlimeItem 드랍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136392" y="2852928"/>
            <a:ext cx="2834640" cy="2011680"/>
          </a:xfrm>
          <a:prstGeom prst="rect">
            <a:avLst/>
          </a:prstGeom>
          <a:solidFill>
            <a:srgbClr val="1A1A2E"/>
          </a:solidFill>
          <a:ln w="1524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3136392" y="2852928"/>
            <a:ext cx="2834640" cy="438912"/>
          </a:xfrm>
          <a:prstGeom prst="rect">
            <a:avLst/>
          </a:prstGeom>
          <a:solidFill>
            <a:srgbClr val="00BCD4">
              <a:alpha val="85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227832" y="28712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SpawnerBox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227832" y="30906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IDefender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27832" y="33467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파괴 시 전설 아이템 드랍하는 상자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27832" y="36576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MaxHp: 5  화살표 공격으로 파괴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27832" y="391363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60% 확률로 전설 아이템 드랍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227832" y="416966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5종 각 12% 확률 / 40% 꽝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227832" y="442569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s_MaxCount: 100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44184" y="2852928"/>
            <a:ext cx="2834640" cy="2011680"/>
          </a:xfrm>
          <a:prstGeom prst="rect">
            <a:avLst/>
          </a:prstGeom>
          <a:solidFill>
            <a:srgbClr val="1A1A2E"/>
          </a:solidFill>
          <a:ln w="1524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044184" y="2852928"/>
            <a:ext cx="2834640" cy="438912"/>
          </a:xfrm>
          <a:prstGeom prst="rect">
            <a:avLst/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135624" y="28712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135624" y="30906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IAttacker, IDefender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35624" y="33467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상태머신 기반 보스 AI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35624" y="36576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Idle → Chase → ReturnHome 3단계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135624" y="391363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4초마다 5칸 돌진 스킬 발동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135624" y="416966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구역 이탈 시 귀환 + HP 회복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135624" y="442569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MaxHp: 200 / 보스 처치 시 GameClear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전투</a:t>
            </a:r>
            <a:r>
              <a:rPr lang="en-US" sz="26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 공격 시스템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635508"/>
            <a:ext cx="1518739" cy="411480"/>
          </a:xfrm>
          <a:prstGeom prst="roundRect">
            <a:avLst>
              <a:gd name="adj" fmla="val 10909"/>
            </a:avLst>
          </a:prstGeom>
          <a:solidFill>
            <a:srgbClr val="F5C518">
              <a:alpha val="80000"/>
            </a:srgbClr>
          </a:solidFill>
          <a:ln w="190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28600" y="635508"/>
            <a:ext cx="15187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방향키 입력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0970" y="635508"/>
            <a:ext cx="1518739" cy="411480"/>
          </a:xfrm>
          <a:prstGeom prst="roundRect">
            <a:avLst>
              <a:gd name="adj" fmla="val 10909"/>
            </a:avLst>
          </a:prstGeom>
          <a:solidFill>
            <a:srgbClr val="E94560">
              <a:alpha val="8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960970" y="635508"/>
            <a:ext cx="15187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Action(dx, dy)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93341" y="635508"/>
            <a:ext cx="1518739" cy="411480"/>
          </a:xfrm>
          <a:prstGeom prst="roundRect">
            <a:avLst>
              <a:gd name="adj" fmla="val 10909"/>
            </a:avLst>
          </a:prstGeom>
          <a:solidFill>
            <a:srgbClr val="00BCD4">
              <a:alpha val="80000"/>
            </a:srgbClr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93341" y="635508"/>
            <a:ext cx="15187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AttackEffect 생성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25712" y="617058"/>
            <a:ext cx="1518739" cy="411480"/>
          </a:xfrm>
          <a:prstGeom prst="roundRect">
            <a:avLst>
              <a:gd name="adj" fmla="val 10909"/>
            </a:avLst>
          </a:prstGeom>
          <a:solidFill>
            <a:srgbClr val="9C27B0">
              <a:alpha val="80000"/>
            </a:srgbClr>
          </a:solidFill>
          <a:ln w="190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25712" y="617058"/>
            <a:ext cx="15187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타겟 판별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90922" y="603180"/>
            <a:ext cx="1518739" cy="411480"/>
          </a:xfrm>
          <a:prstGeom prst="roundRect">
            <a:avLst>
              <a:gd name="adj" fmla="val 10909"/>
            </a:avLst>
          </a:prstGeom>
          <a:solidFill>
            <a:srgbClr val="4CAF50">
              <a:alpha val="80000"/>
            </a:srgbClr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081611" y="5760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" y="1261872"/>
            <a:ext cx="2103120" cy="3703320"/>
          </a:xfrm>
          <a:prstGeom prst="rect">
            <a:avLst/>
          </a:prstGeom>
          <a:solidFill>
            <a:srgbClr val="1A1A2E"/>
          </a:solidFill>
          <a:ln w="1524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01168" y="1261872"/>
            <a:ext cx="2103120" cy="475488"/>
          </a:xfrm>
          <a:prstGeom prst="rect">
            <a:avLst/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92608" y="12893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Action(dx, dy)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" y="1554480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방향키 1회 → 0.5초 쿨타임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1810512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플레이어 위치 + 방향 = 타겟 타일 계산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256032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FindDefender() → 몬스터/보스 우선 확인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3310128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타겟 없으면 IsMinable() 확인 후 채굴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059936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항상 AttackEffect 이펙트 생성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41448" y="1261872"/>
            <a:ext cx="2103120" cy="3703320"/>
          </a:xfrm>
          <a:prstGeom prst="rect">
            <a:avLst/>
          </a:prstGeom>
          <a:solidFill>
            <a:srgbClr val="1A1A2E"/>
          </a:solidFill>
          <a:ln w="1524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441448" y="1261872"/>
            <a:ext cx="2103120" cy="475488"/>
          </a:xfrm>
          <a:prstGeom prst="rect">
            <a:avLst/>
          </a:prstGeom>
          <a:solidFill>
            <a:srgbClr val="00BCD4">
              <a:alpha val="85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532888" y="12893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AttackEffect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32888" y="1554480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0.15초 지속 후 자동 제거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14600" y="1810512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IMotionable 장착 시 무기별 이펙트 문자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14600" y="256032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장비 없으면 방향별 기본 이펙트 (⮉⮋⮈⮊)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14600" y="3310128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무기 색상으로 이펙트 컬러 적용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514600" y="4059936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타일 중앙 4×2 영역에 렌더링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81728" y="1261872"/>
            <a:ext cx="2103120" cy="3703320"/>
          </a:xfrm>
          <a:prstGeom prst="rect">
            <a:avLst/>
          </a:prstGeom>
          <a:solidFill>
            <a:srgbClr val="1A1A2E"/>
          </a:solidFill>
          <a:ln w="1524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681728" y="1261872"/>
            <a:ext cx="2103120" cy="475488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773168" y="12893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전투 (IDefender)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73168" y="1554480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TakeDamage() / 무적시간 1.5초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1810512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AttackDamage만큼 HP 감소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54880" y="256032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IKnockbackable → 공격 방향으로 2칸 넉백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54880" y="3310128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피격 후 1.5초 무적 (IsInvincible)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54880" y="4059936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HP = 0 → 아이템 드랍 후 제거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922008" y="1261872"/>
            <a:ext cx="2103120" cy="3703320"/>
          </a:xfrm>
          <a:prstGeom prst="rect">
            <a:avLst/>
          </a:prstGeom>
          <a:solidFill>
            <a:srgbClr val="1A1A2E"/>
          </a:solidFill>
          <a:ln w="1524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922008" y="1261872"/>
            <a:ext cx="2103120" cy="475488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013448" y="12893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채굴 (Mine)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13448" y="1554480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MiningDamage 누적 → HP 0 시 파괴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95160" y="1810512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MiningDamage만큼 타일 HP 감소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995160" y="256032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HP = 0 → TileType에 따라 아이템 드랍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995160" y="3310128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Object 타입이면 InstalledItem 드랍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995160" y="4059936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곡괭이 장착 시 MiningDamage 증가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몬스터</a:t>
            </a:r>
            <a:r>
              <a:rPr lang="en-US" sz="26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 넉백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슬라임</a:t>
            </a:r>
            <a:r>
              <a:rPr lang="en-US" sz="13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Chase 흐름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932688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888888">
              <a:alpha val="80000"/>
            </a:srgbClr>
          </a:solidFill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1168" y="9326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0.5초 주기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09928" y="1225296"/>
            <a:ext cx="3200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828800" y="932688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F5C518">
              <a:alpha val="80000"/>
            </a:srgbClr>
          </a:solidFill>
          <a:ln w="190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28800" y="9326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 계산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(dist ≤ 4?)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225296"/>
            <a:ext cx="3200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456432" y="932688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9C27B0">
              <a:alpha val="80000"/>
            </a:srgbClr>
          </a:solidFill>
          <a:ln w="190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56432" y="9326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SlimeHelmet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착용 확인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5192" y="1225296"/>
            <a:ext cx="3200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84064" y="932688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00BCD4">
              <a:alpha val="80000"/>
            </a:srgbClr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84064" y="9326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이동 방향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92824" y="1225296"/>
            <a:ext cx="3200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711696" y="932688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E94560">
              <a:alpha val="8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11696" y="9326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플레이어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충돌?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0456" y="1225296"/>
            <a:ext cx="36576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586216" y="749808"/>
            <a:ext cx="457200" cy="411480"/>
          </a:xfrm>
          <a:prstGeom prst="roundRect">
            <a:avLst>
              <a:gd name="adj" fmla="val 8889"/>
            </a:avLst>
          </a:prstGeom>
          <a:solidFill>
            <a:srgbClr val="E94560">
              <a:alpha val="8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586216" y="749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86216" y="1280160"/>
            <a:ext cx="457200" cy="411480"/>
          </a:xfrm>
          <a:prstGeom prst="roundRect">
            <a:avLst>
              <a:gd name="adj" fmla="val 8889"/>
            </a:avLst>
          </a:prstGeom>
          <a:solidFill>
            <a:srgbClr val="00BCD4">
              <a:alpha val="80000"/>
            </a:srgbClr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586216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" y="1719072"/>
            <a:ext cx="2834640" cy="3273552"/>
          </a:xfrm>
          <a:prstGeom prst="rect">
            <a:avLst/>
          </a:prstGeom>
          <a:solidFill>
            <a:srgbClr val="1A1A2E"/>
          </a:solidFill>
          <a:ln w="1524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01168" y="1719072"/>
            <a:ext cx="2834640" cy="475488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92608" y="17465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슬라임 Chase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2608" y="2011680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IChaseable / IAttacker / IKnockbackable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226771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0.5초마다 플레이어 거리 계산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281635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DetectRange(4타일) 이내 진입 시 추적 시작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336499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SlimeHelmet 착용 시 추적 완전 중단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391363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X축 / Y축 중 더 먼 방향으로 우선 이동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46227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플레이어 위치와 겹치면 Attack() 호출 후 이동 중단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82112" y="1719072"/>
            <a:ext cx="2834640" cy="3273552"/>
          </a:xfrm>
          <a:prstGeom prst="rect">
            <a:avLst/>
          </a:prstGeom>
          <a:solidFill>
            <a:srgbClr val="1A1A2E"/>
          </a:solidFill>
          <a:ln w="1524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182112" y="1719072"/>
            <a:ext cx="2834640" cy="475488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273552" y="17465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넉백 (Knockback)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273552" y="2011680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IKnockbackable 인터페이스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55264" y="226771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공격 방향(dx, dy)으로 최대 2칸 밀려남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55264" y="281635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IsMovable() 체크 후 이동 가능한 칸만 이동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55264" y="336499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플레이어 → 슬라임 공격 시 슬라임 넉백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55264" y="391363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슬라임 → 플레이어 공격 시 플레이어 넉백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55264" y="446227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보스 충돌 시에도 플레이어 넉백 적용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63056" y="1719072"/>
            <a:ext cx="2834640" cy="3273552"/>
          </a:xfrm>
          <a:prstGeom prst="rect">
            <a:avLst/>
          </a:prstGeom>
          <a:solidFill>
            <a:srgbClr val="1A1A2E"/>
          </a:solidFill>
          <a:ln w="1524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163056" y="1719072"/>
            <a:ext cx="2834640" cy="475488"/>
          </a:xfrm>
          <a:prstGeom prst="rect">
            <a:avLst/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254496" y="17465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피격 &amp; 무적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54496" y="2011680"/>
            <a:ext cx="2697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IDefender / 무적시간 1.5초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36208" y="226771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TakeDamage() 호출 시 HP 감소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36208" y="281635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IsInvincible(true) → 피격 무시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36208" y="336499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피격 후 1.5초간 무적 (InvincibleTimer)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36208" y="391363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HP = 0 → 사망 처리 + 아이템 드랍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36208" y="446227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보스는 피격 시 0.2초 흰색 깜빡임 이펙트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설치</a:t>
            </a:r>
            <a:r>
              <a:rPr lang="en-US" sz="26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 상호작용 시스템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설치 흐름  (Space → Use)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F5C518">
              <a:alpha val="80000"/>
            </a:srgbClr>
          </a:solidFill>
          <a:ln w="190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1168" y="9144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인벤토리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73936" y="1188720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938528" y="914400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00BCD4">
              <a:alpha val="80000"/>
            </a:srgbClr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938528" y="9144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Use(player)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호출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11296" y="1188720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75888" y="914400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9C27B0">
              <a:alpha val="80000"/>
            </a:srgbClr>
          </a:solidFill>
          <a:ln w="190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75888" y="9144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GetFrontTile()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앞 타일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48656" y="1188720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413248" y="914400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E94560">
              <a:alpha val="8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13248" y="9144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SetTile(Object)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맵에 등록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86016" y="1188720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150608" y="914400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4CAF50">
              <a:alpha val="80000"/>
            </a:srgbClr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150608" y="91440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AddGameObject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상호작용 흐름  (E키 → Interact)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1168" y="1901952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F5C518">
              <a:alpha val="80000"/>
            </a:srgbClr>
          </a:solidFill>
          <a:ln w="190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01168" y="190195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E키 입력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73936" y="2176272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938528" y="1901952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00BCD4">
              <a:alpha val="80000"/>
            </a:srgbClr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938528" y="190195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GetFrontTile()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앞 타일 확인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11296" y="2176272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675888" y="1901952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9C27B0">
              <a:alpha val="80000"/>
            </a:srgbClr>
          </a:solidFill>
          <a:ln w="190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675888" y="190195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GetInstalledItem()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아이템 확인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48656" y="2176272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413248" y="1901952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E94560">
              <a:alpha val="8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413248" y="190195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IInteractable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캐스팅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86016" y="2176272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150608" y="1901952"/>
            <a:ext cx="1572768" cy="548640"/>
          </a:xfrm>
          <a:prstGeom prst="roundRect">
            <a:avLst>
              <a:gd name="adj" fmla="val 10000"/>
            </a:avLst>
          </a:prstGeom>
          <a:solidFill>
            <a:srgbClr val="4CAF50">
              <a:alpha val="80000"/>
            </a:srgbClr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150608" y="190195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Interact(player)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호출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1168" y="2633472"/>
            <a:ext cx="2103120" cy="2395728"/>
          </a:xfrm>
          <a:prstGeom prst="rect">
            <a:avLst/>
          </a:prstGeom>
          <a:solidFill>
            <a:srgbClr val="1A1A2E"/>
          </a:solidFill>
          <a:ln w="1524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01168" y="2633472"/>
            <a:ext cx="2103120" cy="457200"/>
          </a:xfrm>
          <a:prstGeom prst="rect">
            <a:avLst/>
          </a:prstGeom>
          <a:solidFill>
            <a:srgbClr val="00BCD4">
              <a:alpha val="85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92608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IInstallable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92608" y="2907792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타일에 설치되는 오브젝트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314553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DrawInstalled() - 맵 위에 아이콘 렌더링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74320" y="36210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SetTile(Object, item) - 타일에 아이템 등록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0965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채굴 시 InstalledItem으로 드랍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74320" y="45720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WorkbenchItem / BoxItem 구현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41448" y="2633472"/>
            <a:ext cx="2103120" cy="2395728"/>
          </a:xfrm>
          <a:prstGeom prst="rect">
            <a:avLst/>
          </a:prstGeom>
          <a:solidFill>
            <a:srgbClr val="1A1A2E"/>
          </a:solidFill>
          <a:ln w="1524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2441448" y="2633472"/>
            <a:ext cx="2103120" cy="457200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2532888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IInteractable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532888" y="2907792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E키로 상호작용 가능한 오브젝트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514600" y="314553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Interact(Player) 단일 메서드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514600" y="36210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WorkbenchItem → WorkbenchUI.Open()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514600" y="40965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BoxItem → BoxUI.Open()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514600" y="45720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앞 타일에 설치된 경우에만 동작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81728" y="2633472"/>
            <a:ext cx="2103120" cy="2395728"/>
          </a:xfrm>
          <a:prstGeom prst="rect">
            <a:avLst/>
          </a:prstGeom>
          <a:solidFill>
            <a:srgbClr val="1A1A2E"/>
          </a:solidFill>
          <a:ln w="15240">
            <a:solidFill>
              <a:srgbClr val="9C27B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681728" y="2633472"/>
            <a:ext cx="2103120" cy="457200"/>
          </a:xfrm>
          <a:prstGeom prst="rect">
            <a:avLst/>
          </a:prstGeom>
          <a:solidFill>
            <a:srgbClr val="9C27B0">
              <a:alpha val="85000"/>
            </a:srgbClr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773168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설치 &amp; 파괴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773168" y="2907792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타입 타일 생명주기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54880" y="314553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설치 : IsMovable() 확인 후 Object 타입으로 변경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754880" y="36210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파괴 : MineTile() → HP 0 → Ground로 복원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754880" y="40965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파괴 시 InstalledItem을 드랍 아이템으로 변환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754880" y="45720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플레이어가 밟으면 자동 수집 (OnPickup)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922008" y="2633472"/>
            <a:ext cx="2103120" cy="2395728"/>
          </a:xfrm>
          <a:prstGeom prst="rect">
            <a:avLst/>
          </a:prstGeom>
          <a:solidFill>
            <a:srgbClr val="1A1A2E"/>
          </a:solidFill>
          <a:ln w="1524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922008" y="2633472"/>
            <a:ext cx="2103120" cy="457200"/>
          </a:xfrm>
          <a:prstGeom prst="rect">
            <a:avLst/>
          </a:prstGeom>
          <a:solidFill>
            <a:srgbClr val="4CAF50">
              <a:alpha val="85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7013448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연동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013448" y="2907792"/>
            <a:ext cx="1965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열리는 동안 플레이어 이동 차단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995160" y="314553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workbenchUI.IsOpen → 플레이어 이동 차단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995160" y="36210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boxUI.IsOpen → 플레이어 이동 차단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995160" y="40965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Tab(인벤토리) 열기도 동시에 차단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995160" y="45720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E키 재입력 시 UI 닫기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FB5A9-E31F-EDD1-10AA-6875F1BF9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940236-C860-82F6-2275-FBC9616463BC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DAA04A-F750-90FA-D781-64E81CB8DCE0}"/>
              </a:ext>
            </a:extLst>
          </p:cNvPr>
          <p:cNvSpPr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설치</a:t>
            </a:r>
            <a:r>
              <a:rPr lang="en-US" sz="26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 상호작용 시스템</a:t>
            </a:r>
            <a:endParaRPr lang="en-US" sz="2600" dirty="0"/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BB078702-D110-EC33-2872-62AF158C4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62" y="864417"/>
            <a:ext cx="3857240" cy="2030881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DE2174DE-5D6C-C668-4C41-14722143D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099" y="864417"/>
            <a:ext cx="3742775" cy="2030881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344E098F-37B1-CEF7-2548-840411500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747" y="2951938"/>
            <a:ext cx="2419824" cy="170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4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보스</a:t>
            </a:r>
            <a:r>
              <a:rPr lang="en-US" sz="26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600" b="1" dirty="0" err="1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상태머신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888888">
              <a:alpha val="80000"/>
            </a:srgbClr>
          </a:solidFill>
          <a:ln w="254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받기 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가만히 대기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94560">
              <a:alpha val="80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84048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1993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추적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0.6초 간격 이동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0BCD4">
              <a:alpha val="80000"/>
            </a:srgbClr>
          </a:solidFill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8368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ReturnHome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993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구역 이탈 감지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회복하며 귀환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1600200"/>
            <a:ext cx="109728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743200" y="1325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공격받음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1600200"/>
            <a:ext cx="91440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669280" y="1325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구역 이탈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2560320"/>
            <a:ext cx="484632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0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귀환 완료 → Idle 리셋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859536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54864" cy="1828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090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돌진 스킬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4초마다 플레이어 방향으로 5칸 돌진 (0.08초 간격으로 1칸씩 이동)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돌진 중 플레이어와 충돌 시 일반 데미지 × 2 적용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96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보스 구역(±10타일) 벗어나면 돌진 즉시 중단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398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돌진 후 1초 쿨다운 → 다시 Chase 상태로 복귀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AB53F-5D96-14C5-3CB9-B9DCBD371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053837-4964-FE67-E841-888DC50F383C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82200A-454D-4362-9E5F-32F0AFDE1B48}"/>
              </a:ext>
            </a:extLst>
          </p:cNvPr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</a:t>
            </a:r>
            <a:r>
              <a:rPr lang="ko-KR" altLang="en-US" sz="2600" b="1" dirty="0" err="1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</a:t>
            </a:r>
            <a:endParaRPr lang="en-US" sz="2600" dirty="0"/>
          </a:p>
        </p:txBody>
      </p:sp>
      <p:pic>
        <p:nvPicPr>
          <p:cNvPr id="30" name="화면 녹화 중 2026-03-23 041012">
            <a:hlinkClick r:id="" action="ppaction://media"/>
            <a:extLst>
              <a:ext uri="{FF2B5EF4-FFF2-40B4-BE49-F238E27FC236}">
                <a16:creationId xmlns:a16="http://schemas.microsoft.com/office/drawing/2014/main" id="{43DE4ED3-8031-4F4F-E8EF-18CA55984F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95251" y="873294"/>
            <a:ext cx="66421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2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900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씬 구조 &amp; 게임 흐름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F5C518">
              <a:alpha val="85000"/>
            </a:srgbClr>
          </a:solidFill>
          <a:ln w="254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TitleScene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타이틀 / 조작법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18872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00BCD4">
              <a:alpha val="85000"/>
            </a:srgbClr>
          </a:solidFill>
          <a:ln w="254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37744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LoadingScene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 생성 대기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18872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4CAF50">
              <a:alpha val="85000"/>
            </a:srgbClr>
          </a:solidFill>
          <a:ln w="254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38912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PlayScene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게임플레이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92608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E94560">
              <a:alpha val="85000"/>
            </a:srgbClr>
          </a:solidFill>
          <a:ln w="254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38328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사망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292608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FFD700">
              <a:alpha val="85000"/>
            </a:srgbClr>
          </a:solidFill>
          <a:ln w="254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39496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GameClear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처치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94560" y="1485900"/>
            <a:ext cx="18288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011680" y="9202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06240" y="1485900"/>
            <a:ext cx="18288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040065" y="9202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828800"/>
            <a:ext cx="0" cy="1097280"/>
          </a:xfrm>
          <a:prstGeom prst="line">
            <a:avLst/>
          </a:prstGeom>
          <a:noFill/>
          <a:ln w="19050">
            <a:solidFill>
              <a:srgbClr val="E9456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994345" y="22768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HP=0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1828800"/>
            <a:ext cx="0" cy="1097280"/>
          </a:xfrm>
          <a:prstGeom prst="line">
            <a:avLst/>
          </a:prstGeom>
          <a:noFill/>
          <a:ln w="19050">
            <a:solidFill>
              <a:srgbClr val="FFD70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953272" y="2286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Boss사망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280160" y="4407408"/>
            <a:ext cx="39319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828800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→ 재시작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1A1A2E"/>
          </a:solidFill>
          <a:ln w="63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74320" y="3931920"/>
            <a:ext cx="54864" cy="9144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57200" y="397764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씬 관리 방식 : event Action 기반 씬 전환  |  CoreKeeper.cs에서 </a:t>
            </a:r>
            <a:r>
              <a:rPr lang="en-US" sz="12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관</a:t>
            </a:r>
            <a:r>
              <a:rPr lang="ko-KR" alt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1433144"/>
            <a:ext cx="146304" cy="146304"/>
          </a:xfrm>
          <a:prstGeom prst="rect">
            <a:avLst/>
          </a:prstGeom>
          <a:solidFill>
            <a:srgbClr val="F5C518">
              <a:alpha val="5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2164664"/>
            <a:ext cx="146304" cy="146304"/>
          </a:xfrm>
          <a:prstGeom prst="rect">
            <a:avLst/>
          </a:prstGeom>
          <a:solidFill>
            <a:srgbClr val="F5C518">
              <a:alpha val="5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2896184"/>
            <a:ext cx="146304" cy="146304"/>
          </a:xfrm>
          <a:prstGeom prst="rect">
            <a:avLst/>
          </a:prstGeom>
          <a:solidFill>
            <a:srgbClr val="F5C518">
              <a:alpha val="5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798904"/>
            <a:ext cx="146304" cy="146304"/>
          </a:xfrm>
          <a:prstGeom prst="rect">
            <a:avLst/>
          </a:prstGeom>
          <a:solidFill>
            <a:srgbClr val="F5C518">
              <a:alpha val="5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2530424"/>
            <a:ext cx="146304" cy="146304"/>
          </a:xfrm>
          <a:prstGeom prst="rect">
            <a:avLst/>
          </a:prstGeom>
          <a:solidFill>
            <a:srgbClr val="F5C518">
              <a:alpha val="5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321040" y="1433144"/>
            <a:ext cx="146304" cy="146304"/>
          </a:xfrm>
          <a:prstGeom prst="rect">
            <a:avLst/>
          </a:prstGeom>
          <a:solidFill>
            <a:srgbClr val="F5C518">
              <a:alpha val="5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321040" y="2164664"/>
            <a:ext cx="146304" cy="146304"/>
          </a:xfrm>
          <a:prstGeom prst="rect">
            <a:avLst/>
          </a:prstGeom>
          <a:solidFill>
            <a:srgbClr val="F5C518">
              <a:alpha val="5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321040" y="2896184"/>
            <a:ext cx="146304" cy="146304"/>
          </a:xfrm>
          <a:prstGeom prst="rect">
            <a:avLst/>
          </a:prstGeom>
          <a:solidFill>
            <a:srgbClr val="F5C518">
              <a:alpha val="5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46720" y="1798904"/>
            <a:ext cx="146304" cy="146304"/>
          </a:xfrm>
          <a:prstGeom prst="rect">
            <a:avLst/>
          </a:prstGeom>
          <a:solidFill>
            <a:srgbClr val="F5C518">
              <a:alpha val="5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46720" y="2530424"/>
            <a:ext cx="146304" cy="146304"/>
          </a:xfrm>
          <a:prstGeom prst="rect">
            <a:avLst/>
          </a:prstGeom>
          <a:solidFill>
            <a:srgbClr val="F5C518">
              <a:alpha val="50000"/>
            </a:srgbClr>
          </a:solidFill>
          <a:ln w="635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616024"/>
            <a:ext cx="8229600" cy="109728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457200" y="280474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kern="0" spc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감사합니다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2022</Words>
  <Application>Microsoft Office PowerPoint</Application>
  <PresentationFormat>화면 슬라이드 쇼(16:9)</PresentationFormat>
  <Paragraphs>397</Paragraphs>
  <Slides>18</Slides>
  <Notes>10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Keeper - Game Development</dc:title>
  <dc:subject>PptxGenJS Presentation</dc:subject>
  <dc:creator>PptxGenJS</dc:creator>
  <cp:lastModifiedBy>유찬 김</cp:lastModifiedBy>
  <cp:revision>3</cp:revision>
  <dcterms:created xsi:type="dcterms:W3CDTF">2026-03-22T16:11:56Z</dcterms:created>
  <dcterms:modified xsi:type="dcterms:W3CDTF">2026-03-22T19:12:08Z</dcterms:modified>
</cp:coreProperties>
</file>